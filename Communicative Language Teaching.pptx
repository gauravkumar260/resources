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9200" y="3810000"/>
            <a:ext cx="6858000" cy="990600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 smtClean="0"/>
              <a:t>Communicative Language Teaching (CLT)</a:t>
            </a:r>
            <a:br>
              <a:rPr lang="en-US" sz="2400" b="1" dirty="0" smtClean="0"/>
            </a:br>
            <a:r>
              <a:rPr lang="en-US" sz="2400" b="1" dirty="0" smtClean="0"/>
              <a:t>Course Code: LAF183</a:t>
            </a:r>
            <a:endParaRPr lang="en-IN" sz="2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Dr. Sandeep Kr. Sharma, </a:t>
            </a:r>
          </a:p>
          <a:p>
            <a:pPr algn="l"/>
            <a:r>
              <a:rPr lang="en-US" b="1" dirty="0" smtClean="0">
                <a:solidFill>
                  <a:schemeClr val="tx1"/>
                </a:solidFill>
              </a:rPr>
              <a:t>DIT University, Dehradun</a:t>
            </a: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9603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7620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Communicative Language Teaching (CLT)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45720" indent="0">
              <a:buClrTx/>
              <a:buNone/>
            </a:pPr>
            <a:r>
              <a:rPr lang="en-US" sz="1800" b="1" dirty="0" smtClean="0"/>
              <a:t>Historical perspective</a:t>
            </a:r>
          </a:p>
          <a:p>
            <a:pPr marL="331470" indent="-285750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CLT origins, can be found in changes in the British Language teaching tradition in 1960s. </a:t>
            </a:r>
          </a:p>
          <a:p>
            <a:pPr marL="331470" indent="-285750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Back then, the Situational Language teaching approach was norm.</a:t>
            </a:r>
          </a:p>
          <a:p>
            <a:pPr marL="331470" indent="-285750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SLT consisted in internalizing  the structures of language. </a:t>
            </a:r>
          </a:p>
          <a:p>
            <a:pPr marL="331470" indent="-285750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Mostly, learning grammar rules without vocabulary development.</a:t>
            </a:r>
          </a:p>
          <a:p>
            <a:pPr marL="331470" indent="-285750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SLT did not fill the need to develop language competence in language teaching.</a:t>
            </a:r>
          </a:p>
          <a:p>
            <a:pPr marL="331470" indent="-285750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Richards and Rodgers discuss the need to focus in communicative proficiency rather master of structures. </a:t>
            </a:r>
          </a:p>
          <a:p>
            <a:pPr marL="331470" indent="-285750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Sandra J. </a:t>
            </a:r>
            <a:r>
              <a:rPr lang="en-US" sz="1800" dirty="0" err="1" smtClean="0"/>
              <a:t>Savignon</a:t>
            </a:r>
            <a:r>
              <a:rPr lang="en-US" sz="1800" dirty="0" smtClean="0"/>
              <a:t>,  Christopher </a:t>
            </a:r>
            <a:r>
              <a:rPr lang="en-US" sz="1800" dirty="0" err="1" smtClean="0"/>
              <a:t>Candlin</a:t>
            </a:r>
            <a:r>
              <a:rPr lang="en-US" sz="1800" dirty="0" smtClean="0"/>
              <a:t>, D.A. Wilkins and Henry </a:t>
            </a:r>
            <a:r>
              <a:rPr lang="en-US" sz="1800" dirty="0" err="1" smtClean="0"/>
              <a:t>Widdowson</a:t>
            </a:r>
            <a:r>
              <a:rPr lang="en-US" sz="1800" dirty="0" smtClean="0"/>
              <a:t> along with others promoted the CLT Approach.</a:t>
            </a:r>
            <a:endParaRPr lang="en-US" sz="1800" dirty="0"/>
          </a:p>
          <a:p>
            <a:pPr marL="331470" indent="-285750">
              <a:buClrTx/>
              <a:buFont typeface="Wingdings" pitchFamily="2" charset="2"/>
              <a:buChar char="Ø"/>
            </a:pPr>
            <a:endParaRPr lang="en-US" sz="1800" dirty="0" smtClean="0"/>
          </a:p>
          <a:p>
            <a:pPr marL="502920" indent="-457200">
              <a:buClrTx/>
              <a:buFont typeface="Wingdings" pitchFamily="2" charset="2"/>
              <a:buChar char="Ø"/>
            </a:pPr>
            <a:endParaRPr lang="en-US" dirty="0" smtClean="0"/>
          </a:p>
          <a:p>
            <a:pPr marL="502920" indent="-457200">
              <a:buClrTx/>
              <a:buFont typeface="Wingdings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00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CLT Approach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The objective of language learning is to learn express  communicational functions and categories of meaning. </a:t>
            </a:r>
          </a:p>
          <a:p>
            <a:pPr>
              <a:buClrTx/>
              <a:buFont typeface="Wingdings" pitchFamily="2" charset="2"/>
              <a:buChar char="Ø"/>
            </a:pPr>
            <a:endParaRPr lang="en-US" sz="1800" dirty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Purpose of CLT: Let students communicate fluently in target language (L2).</a:t>
            </a:r>
          </a:p>
          <a:p>
            <a:pPr>
              <a:buClrTx/>
              <a:buFont typeface="Wingdings" pitchFamily="2" charset="2"/>
              <a:buChar char="Ø"/>
            </a:pPr>
            <a:endParaRPr lang="en-US" sz="1800" dirty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Develop “Communicative Competence” (</a:t>
            </a:r>
            <a:r>
              <a:rPr lang="en-US" sz="1800" dirty="0" err="1" smtClean="0"/>
              <a:t>Hymes</a:t>
            </a:r>
            <a:r>
              <a:rPr lang="en-US" sz="1800" dirty="0" smtClean="0"/>
              <a:t>, 1972).</a:t>
            </a:r>
          </a:p>
          <a:p>
            <a:pPr>
              <a:buClrTx/>
              <a:buFont typeface="Wingdings" pitchFamily="2" charset="2"/>
              <a:buChar char="Ø"/>
            </a:pPr>
            <a:endParaRPr lang="en-US" sz="1800" dirty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Contrary to the traditional grammar translation methods.</a:t>
            </a:r>
          </a:p>
          <a:p>
            <a:endParaRPr lang="en-US" sz="1800" dirty="0" smtClean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932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CLT Objectives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Use language as :</a:t>
            </a:r>
          </a:p>
          <a:p>
            <a:pPr marL="0" indent="0">
              <a:buClrTx/>
              <a:buNone/>
            </a:pPr>
            <a:r>
              <a:rPr lang="en-US" sz="1800" dirty="0"/>
              <a:t>	</a:t>
            </a:r>
            <a:r>
              <a:rPr lang="en-US" sz="1800" dirty="0" smtClean="0"/>
              <a:t>Means of communication </a:t>
            </a:r>
          </a:p>
          <a:p>
            <a:pPr marL="0" indent="0">
              <a:buClrTx/>
              <a:buNone/>
            </a:pPr>
            <a:r>
              <a:rPr lang="en-US" sz="1800" dirty="0"/>
              <a:t>	O</a:t>
            </a:r>
            <a:r>
              <a:rPr lang="en-US" sz="1800" dirty="0" smtClean="0"/>
              <a:t>bject of learning</a:t>
            </a:r>
          </a:p>
          <a:p>
            <a:pPr marL="0" indent="0">
              <a:buClrTx/>
              <a:buNone/>
            </a:pPr>
            <a:r>
              <a:rPr lang="en-US" sz="1800" dirty="0" smtClean="0"/>
              <a:t>	Means of expressing values</a:t>
            </a:r>
          </a:p>
          <a:p>
            <a:pPr marL="0" indent="0">
              <a:buClrTx/>
              <a:buNone/>
            </a:pPr>
            <a:endParaRPr lang="en-US" sz="1800" dirty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Focus on communication rather than  structure.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Language learning within the school curriculum.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Focus on meaningful tasks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Collaboration</a:t>
            </a:r>
          </a:p>
          <a:p>
            <a:pPr marL="0" indent="0">
              <a:buClrTx/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898984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sz="2700" b="1" dirty="0" smtClean="0"/>
              <a:t>Communicative Approach or CLT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34440"/>
            <a:ext cx="8229600" cy="493776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The </a:t>
            </a:r>
            <a:r>
              <a:rPr lang="en-US" sz="1800" dirty="0"/>
              <a:t>communicative approach is a learner </a:t>
            </a:r>
            <a:r>
              <a:rPr lang="en-US" sz="1800" dirty="0" smtClean="0"/>
              <a:t>centered approach</a:t>
            </a:r>
            <a:r>
              <a:rPr lang="en-US" sz="1800" dirty="0"/>
              <a:t>. </a:t>
            </a:r>
            <a:endParaRPr lang="en-US" sz="1800" dirty="0" smtClean="0"/>
          </a:p>
          <a:p>
            <a:pPr algn="just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This </a:t>
            </a:r>
            <a:r>
              <a:rPr lang="en-US" sz="1800" dirty="0"/>
              <a:t>approach gives the learner not </a:t>
            </a:r>
            <a:r>
              <a:rPr lang="en-US" sz="1800" dirty="0" smtClean="0"/>
              <a:t>only grammatical </a:t>
            </a:r>
            <a:r>
              <a:rPr lang="en-US" sz="1800" dirty="0"/>
              <a:t>competence but also a social skill </a:t>
            </a:r>
            <a:r>
              <a:rPr lang="en-US" sz="1800" dirty="0" smtClean="0"/>
              <a:t>as: </a:t>
            </a:r>
            <a:r>
              <a:rPr lang="en-US" sz="1800" dirty="0"/>
              <a:t>W</a:t>
            </a:r>
            <a:r>
              <a:rPr lang="en-US" sz="1800" dirty="0" smtClean="0"/>
              <a:t>hat </a:t>
            </a:r>
            <a:r>
              <a:rPr lang="en-US" sz="1800" dirty="0"/>
              <a:t>to say How to say, when to say and where, in order </a:t>
            </a:r>
            <a:r>
              <a:rPr lang="en-US" sz="1800" dirty="0" smtClean="0"/>
              <a:t>to satisfy </a:t>
            </a:r>
            <a:r>
              <a:rPr lang="en-US" sz="1800" dirty="0"/>
              <a:t>his daily needs as larger aim. </a:t>
            </a:r>
            <a:endParaRPr lang="en-US" sz="1800" dirty="0" smtClean="0"/>
          </a:p>
          <a:p>
            <a:pPr algn="just"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In </a:t>
            </a:r>
            <a:r>
              <a:rPr lang="en-US" sz="1800" dirty="0"/>
              <a:t>this approach, </a:t>
            </a:r>
            <a:r>
              <a:rPr lang="en-US" sz="1800" dirty="0" smtClean="0"/>
              <a:t>apart from </a:t>
            </a:r>
            <a:r>
              <a:rPr lang="en-US" sz="1800" dirty="0"/>
              <a:t>fluency, accuracy and appropriateness </a:t>
            </a:r>
            <a:r>
              <a:rPr lang="en-US" sz="1800" dirty="0" smtClean="0"/>
              <a:t>are equally important. </a:t>
            </a:r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 smtClean="0"/>
              <a:t>In this </a:t>
            </a:r>
            <a:r>
              <a:rPr lang="en-US" sz="1800" dirty="0"/>
              <a:t>approach the role of teacher is that of a </a:t>
            </a:r>
            <a:r>
              <a:rPr lang="en-US" sz="1800" dirty="0" smtClean="0"/>
              <a:t>co-participant not that of an authoritarian  master.    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6670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58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Conti…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ClrTx/>
              <a:buFont typeface="Wingdings" pitchFamily="2" charset="2"/>
              <a:buChar char="Ø"/>
            </a:pP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The </a:t>
            </a:r>
            <a:r>
              <a:rPr lang="en-US" sz="1800" dirty="0"/>
              <a:t>goal of communicative approach is to </a:t>
            </a:r>
            <a:r>
              <a:rPr lang="en-US" sz="1800" dirty="0" smtClean="0"/>
              <a:t>make learners communicatively competence.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In this approach </a:t>
            </a:r>
            <a:r>
              <a:rPr lang="en-US" sz="1800" dirty="0" smtClean="0"/>
              <a:t>the teacher </a:t>
            </a:r>
            <a:r>
              <a:rPr lang="en-US" sz="1800" dirty="0"/>
              <a:t>is seen as a facilitators of his students, learning. </a:t>
            </a:r>
            <a:endParaRPr lang="en-US" sz="1800" dirty="0" smtClean="0"/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/>
              <a:t>Communicative approach is based on the idea </a:t>
            </a:r>
            <a:r>
              <a:rPr lang="en-US" sz="1800" dirty="0" smtClean="0"/>
              <a:t>that the </a:t>
            </a:r>
            <a:r>
              <a:rPr lang="en-US" sz="1800" dirty="0"/>
              <a:t>aim of learning second language is to </a:t>
            </a:r>
            <a:r>
              <a:rPr lang="en-US" sz="1800" dirty="0" smtClean="0"/>
              <a:t>gain communicative </a:t>
            </a:r>
            <a:r>
              <a:rPr lang="en-US" sz="1800" dirty="0"/>
              <a:t>competency. </a:t>
            </a:r>
            <a:r>
              <a:rPr lang="en-US" sz="1800" dirty="0" smtClean="0"/>
              <a:t> </a:t>
            </a:r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/>
              <a:t>L</a:t>
            </a:r>
            <a:r>
              <a:rPr lang="en-US" sz="1800" dirty="0" smtClean="0"/>
              <a:t>earner have to </a:t>
            </a:r>
            <a:r>
              <a:rPr lang="en-US" sz="1800" dirty="0"/>
              <a:t>knowledge of the rules of use of language to </a:t>
            </a:r>
            <a:r>
              <a:rPr lang="en-US" sz="1800" dirty="0" smtClean="0"/>
              <a:t>generate language </a:t>
            </a:r>
            <a:r>
              <a:rPr lang="en-US" sz="1800" dirty="0"/>
              <a:t>appropriately for certain situations. </a:t>
            </a:r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/>
              <a:t>The "term communicate" meant to express or </a:t>
            </a:r>
            <a:r>
              <a:rPr lang="en-US" sz="1800" dirty="0" smtClean="0"/>
              <a:t>convey the </a:t>
            </a:r>
            <a:r>
              <a:rPr lang="en-US" sz="1800" dirty="0"/>
              <a:t>ideas verbally or non-verbally.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This approach emphasizes </a:t>
            </a:r>
            <a:r>
              <a:rPr lang="en-US" sz="1800" dirty="0"/>
              <a:t>the communicative capability of the learners. </a:t>
            </a:r>
            <a:endParaRPr lang="en-US" sz="1800" dirty="0" smtClean="0"/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/>
              <a:t>In English language teaching, the teacher tries to </a:t>
            </a:r>
            <a:r>
              <a:rPr lang="en-US" sz="1800" dirty="0" smtClean="0"/>
              <a:t>develop communicative </a:t>
            </a:r>
            <a:r>
              <a:rPr lang="en-US" sz="1800" dirty="0"/>
              <a:t>ability in students or learners.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Communicative capability is also known as </a:t>
            </a:r>
            <a:r>
              <a:rPr lang="en-US" sz="1800" dirty="0" smtClean="0"/>
              <a:t>communicative competence </a:t>
            </a:r>
            <a:r>
              <a:rPr lang="en-US" sz="1800" dirty="0"/>
              <a:t>includes the following competences. 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800" dirty="0"/>
              <a:t/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54616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Conti….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/>
              <a:t>Communicative Competences </a:t>
            </a:r>
            <a:r>
              <a:rPr lang="en-IN" sz="1800" b="1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endParaRPr lang="en-IN" sz="1800" b="1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1800" b="1" dirty="0" smtClean="0"/>
              <a:t>Grammatical Competence </a:t>
            </a:r>
            <a:r>
              <a:rPr lang="en-IN" sz="1800" dirty="0" smtClean="0"/>
              <a:t>Unconscious knowledge grammar to understand language. </a:t>
            </a:r>
            <a:r>
              <a:rPr lang="en-IN" sz="1800" b="1" dirty="0" smtClean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/>
              <a:t>Speech Competence </a:t>
            </a:r>
            <a:r>
              <a:rPr lang="en-IN" sz="1800" dirty="0" smtClean="0"/>
              <a:t>Ability to use language in speech</a:t>
            </a:r>
            <a:endParaRPr lang="en-IN" sz="18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/>
              <a:t>Technical Competence </a:t>
            </a:r>
            <a:r>
              <a:rPr lang="en-IN" sz="1800" dirty="0" smtClean="0"/>
              <a:t>Ability to use technical principle and information </a:t>
            </a:r>
            <a:endParaRPr lang="en-IN" sz="18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 smtClean="0"/>
              <a:t>Sociolinguistic Competence </a:t>
            </a:r>
            <a:r>
              <a:rPr lang="en-IN" sz="1800" dirty="0" smtClean="0"/>
              <a:t>Ability to use appropriate things for communicative event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pPr marL="0" indent="0">
              <a:buNone/>
            </a:pP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 smtClean="0"/>
              <a:t> </a:t>
            </a:r>
            <a:r>
              <a:rPr lang="en-IN" sz="1800" b="1" dirty="0" smtClean="0"/>
              <a:t>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805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Communicative Competences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ClrTx/>
              <a:buNone/>
            </a:pP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err="1" smtClean="0"/>
              <a:t>Accrding</a:t>
            </a:r>
            <a:r>
              <a:rPr lang="en-US" sz="1800" dirty="0" smtClean="0"/>
              <a:t> to Dell </a:t>
            </a:r>
            <a:r>
              <a:rPr lang="en-US" sz="1800" dirty="0" err="1" smtClean="0"/>
              <a:t>Hymes</a:t>
            </a:r>
            <a:r>
              <a:rPr lang="en-US" sz="1800" dirty="0" smtClean="0"/>
              <a:t>, </a:t>
            </a:r>
            <a:r>
              <a:rPr lang="en-US" sz="1800" dirty="0"/>
              <a:t>the speaker of English should </a:t>
            </a:r>
            <a:r>
              <a:rPr lang="en-US" sz="1800" dirty="0" smtClean="0"/>
              <a:t>have knowledge </a:t>
            </a:r>
            <a:r>
              <a:rPr lang="en-US" sz="1800" dirty="0"/>
              <a:t>of more and more grammatical </a:t>
            </a:r>
            <a:r>
              <a:rPr lang="en-US" sz="1800" dirty="0" smtClean="0"/>
              <a:t>competences to </a:t>
            </a:r>
            <a:r>
              <a:rPr lang="en-US" sz="1800" dirty="0"/>
              <a:t>become good speaker in English language or </a:t>
            </a:r>
            <a:r>
              <a:rPr lang="en-US" sz="1800" dirty="0" smtClean="0"/>
              <a:t>other language</a:t>
            </a:r>
            <a:r>
              <a:rPr lang="en-US" sz="1800" dirty="0"/>
              <a:t>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The learner of EFL\ESL have to know that </a:t>
            </a:r>
            <a:r>
              <a:rPr lang="en-US" sz="1800" dirty="0" smtClean="0"/>
              <a:t>how a </a:t>
            </a:r>
            <a:r>
              <a:rPr lang="en-US" sz="1800" dirty="0"/>
              <a:t>language is used by the member of the speech </a:t>
            </a:r>
            <a:r>
              <a:rPr lang="en-US" sz="1800" dirty="0" smtClean="0"/>
              <a:t>community to </a:t>
            </a:r>
            <a:r>
              <a:rPr lang="en-US" sz="1800" dirty="0"/>
              <a:t>accomplish their purpose?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endParaRPr lang="en-US" sz="1800" dirty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There are eight aspects of </a:t>
            </a:r>
            <a:r>
              <a:rPr lang="en-US" sz="1800" dirty="0" smtClean="0"/>
              <a:t>communicative competences</a:t>
            </a:r>
            <a:r>
              <a:rPr lang="en-US" sz="1800" dirty="0"/>
              <a:t>. They are grouped into two parts. </a:t>
            </a:r>
            <a:br>
              <a:rPr lang="en-US" sz="1800" dirty="0"/>
            </a:br>
            <a:endParaRPr lang="en-US" sz="1800" dirty="0" smtClean="0"/>
          </a:p>
          <a:p>
            <a:pPr marL="0" indent="0">
              <a:buClrTx/>
              <a:buNone/>
            </a:pPr>
            <a:r>
              <a:rPr lang="en-US" sz="1800"/>
              <a:t>	</a:t>
            </a:r>
            <a:r>
              <a:rPr lang="en-US" sz="1800" smtClean="0"/>
              <a:t>Linguistic </a:t>
            </a:r>
            <a:r>
              <a:rPr lang="en-US" sz="1800" dirty="0" smtClean="0"/>
              <a:t>aspect </a:t>
            </a:r>
          </a:p>
          <a:p>
            <a:pPr marL="0" indent="0">
              <a:buClrTx/>
              <a:buNone/>
            </a:pPr>
            <a:r>
              <a:rPr lang="en-US" sz="1800" dirty="0"/>
              <a:t>	</a:t>
            </a:r>
            <a:r>
              <a:rPr lang="en-US" sz="1800" dirty="0" smtClean="0"/>
              <a:t>Pragmatic aspect</a:t>
            </a:r>
          </a:p>
          <a:p>
            <a:pPr marL="0" indent="0">
              <a:buClrTx/>
              <a:buNone/>
            </a:pPr>
            <a:r>
              <a:rPr lang="en-US" sz="1800" dirty="0"/>
              <a:t/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0448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Conti…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i="1" dirty="0"/>
              <a:t>	</a:t>
            </a:r>
            <a:r>
              <a:rPr lang="en-US" sz="1800" b="1" i="1" dirty="0" smtClean="0"/>
              <a:t>Linguistic Aspect</a:t>
            </a:r>
            <a:endParaRPr lang="en-US" sz="1800" b="1" i="1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800" b="1" dirty="0" smtClean="0"/>
              <a:t>		</a:t>
            </a:r>
            <a:r>
              <a:rPr lang="en-IN" sz="1800" dirty="0" smtClean="0"/>
              <a:t>Phonology </a:t>
            </a:r>
            <a:r>
              <a:rPr lang="en-IN" sz="1800" dirty="0"/>
              <a:t>and grammatical description </a:t>
            </a:r>
            <a:br>
              <a:rPr lang="en-IN" sz="1800" dirty="0"/>
            </a:br>
            <a:r>
              <a:rPr lang="en-IN" sz="1800" dirty="0" smtClean="0"/>
              <a:t>		Grammar 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 smtClean="0"/>
              <a:t>		Vocabulary 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 smtClean="0"/>
              <a:t>		Discourse </a:t>
            </a:r>
            <a:r>
              <a:rPr lang="en-IN" sz="1800" dirty="0"/>
              <a:t/>
            </a:r>
            <a:br>
              <a:rPr lang="en-IN" sz="1800" dirty="0"/>
            </a:br>
            <a:endParaRPr lang="en-US" sz="1800" b="1" dirty="0" smtClean="0"/>
          </a:p>
          <a:p>
            <a:pPr marL="0" indent="0">
              <a:buNone/>
            </a:pPr>
            <a:r>
              <a:rPr lang="en-IN" sz="1800" b="1" i="1" dirty="0" smtClean="0"/>
              <a:t>	Pragmatic </a:t>
            </a:r>
            <a:r>
              <a:rPr lang="en-IN" sz="1800" b="1" i="1" dirty="0"/>
              <a:t>Aspects</a:t>
            </a:r>
            <a:r>
              <a:rPr lang="en-IN" sz="1800" b="1" dirty="0"/>
              <a:t> </a:t>
            </a:r>
            <a:endParaRPr lang="en-IN" sz="1800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IN" sz="1800" b="1" dirty="0"/>
              <a:t>	</a:t>
            </a:r>
            <a:r>
              <a:rPr lang="en-IN" sz="1800" b="1" dirty="0" smtClean="0"/>
              <a:t>	</a:t>
            </a:r>
            <a:r>
              <a:rPr lang="en-IN" sz="1800" dirty="0" smtClean="0"/>
              <a:t>Functions 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 smtClean="0"/>
              <a:t>		Variations 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 smtClean="0"/>
              <a:t>		Interaction </a:t>
            </a:r>
            <a:r>
              <a:rPr lang="en-IN" sz="1800" dirty="0"/>
              <a:t>skill </a:t>
            </a:r>
            <a:br>
              <a:rPr lang="en-IN" sz="1800" dirty="0"/>
            </a:br>
            <a:r>
              <a:rPr lang="en-IN" sz="1800" dirty="0" smtClean="0"/>
              <a:t>		Cultural </a:t>
            </a:r>
            <a:r>
              <a:rPr lang="en-IN" sz="1800" dirty="0"/>
              <a:t>Framework </a:t>
            </a:r>
            <a:br>
              <a:rPr lang="en-IN" sz="1800" dirty="0"/>
            </a:b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71494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700" b="1" dirty="0" smtClean="0"/>
              <a:t/>
            </a:r>
            <a:br>
              <a:rPr lang="en-US" sz="2700" b="1" dirty="0" smtClean="0"/>
            </a:br>
            <a:r>
              <a:rPr lang="en-US" sz="2700" b="1" dirty="0" smtClean="0"/>
              <a:t>The </a:t>
            </a:r>
            <a:r>
              <a:rPr lang="en-US" sz="2700" b="1" dirty="0"/>
              <a:t>Aim of Communicative Language 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ClrTx/>
              <a:buNone/>
            </a:pPr>
            <a:r>
              <a:rPr lang="en-US" sz="1800" dirty="0"/>
              <a:t>The aim of communicative language is to develop </a:t>
            </a:r>
            <a:r>
              <a:rPr lang="en-US" sz="1800" dirty="0" smtClean="0"/>
              <a:t>the communicative </a:t>
            </a:r>
            <a:r>
              <a:rPr lang="en-US" sz="1800" dirty="0"/>
              <a:t>competence among learner </a:t>
            </a:r>
            <a:r>
              <a:rPr lang="en-US" sz="1800" dirty="0" smtClean="0"/>
              <a:t>. Functions communicative </a:t>
            </a:r>
            <a:r>
              <a:rPr lang="en-US" sz="1800" dirty="0"/>
              <a:t>language teaching is below: </a:t>
            </a:r>
            <a:br>
              <a:rPr lang="en-US" sz="1800" dirty="0"/>
            </a:br>
            <a:endParaRPr lang="en-US" sz="1800" dirty="0" smtClean="0"/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/>
              <a:t>Instrumental function of language is </a:t>
            </a:r>
            <a:r>
              <a:rPr lang="en-US" sz="1800" dirty="0" smtClean="0"/>
              <a:t>using language </a:t>
            </a:r>
            <a:r>
              <a:rPr lang="en-US" sz="1800" dirty="0"/>
              <a:t>to get things. </a:t>
            </a:r>
            <a:endParaRPr lang="en-US" sz="1800" dirty="0" smtClean="0"/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/>
              <a:t>Regulatory function of language is </a:t>
            </a:r>
            <a:r>
              <a:rPr lang="en-US" sz="1800" dirty="0" smtClean="0"/>
              <a:t>using language </a:t>
            </a:r>
            <a:r>
              <a:rPr lang="en-US" sz="1800" dirty="0"/>
              <a:t>to control the </a:t>
            </a:r>
            <a:r>
              <a:rPr lang="en-US" sz="1800" dirty="0" err="1"/>
              <a:t>behaviour</a:t>
            </a:r>
            <a:r>
              <a:rPr lang="en-US" sz="1800" dirty="0"/>
              <a:t> of others. </a:t>
            </a:r>
            <a:endParaRPr lang="en-US" sz="1800" dirty="0" smtClean="0"/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/>
              <a:t>Interaction function of language is </a:t>
            </a:r>
            <a:r>
              <a:rPr lang="en-US" sz="1800" dirty="0" smtClean="0"/>
              <a:t>using  language </a:t>
            </a:r>
            <a:r>
              <a:rPr lang="en-US" sz="1800" dirty="0"/>
              <a:t>to create interaction with others. </a:t>
            </a:r>
            <a:endParaRPr lang="en-US" sz="1800" dirty="0" smtClean="0"/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/>
              <a:t>Personal function of language is using </a:t>
            </a:r>
            <a:r>
              <a:rPr lang="en-US" sz="1800" dirty="0" smtClean="0"/>
              <a:t>language  express personal feeling and thoughts. </a:t>
            </a:r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/>
              <a:t>Imaginative function of language is </a:t>
            </a:r>
            <a:r>
              <a:rPr lang="en-US" sz="1800" dirty="0" smtClean="0"/>
              <a:t>using  language </a:t>
            </a:r>
            <a:r>
              <a:rPr lang="en-US" sz="1800" dirty="0"/>
              <a:t>to create the world of imagination. </a:t>
            </a:r>
            <a:endParaRPr lang="en-US" sz="1800" dirty="0" smtClean="0"/>
          </a:p>
          <a:p>
            <a:pPr>
              <a:lnSpc>
                <a:spcPct val="150000"/>
              </a:lnSpc>
              <a:buClrTx/>
              <a:buFont typeface="Wingdings" pitchFamily="2" charset="2"/>
              <a:buChar char="Ø"/>
            </a:pPr>
            <a:r>
              <a:rPr lang="en-US" sz="1800" dirty="0"/>
              <a:t>Representational function of language is </a:t>
            </a:r>
            <a:r>
              <a:rPr lang="en-US" sz="1800" dirty="0" smtClean="0"/>
              <a:t>using language </a:t>
            </a:r>
            <a:r>
              <a:rPr lang="en-US" sz="1800" dirty="0"/>
              <a:t>to communicate. </a:t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102280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sz="2700" b="1" dirty="0" smtClean="0"/>
              <a:t>Characteristics </a:t>
            </a:r>
            <a:r>
              <a:rPr lang="en-IN" sz="2700" b="1" dirty="0"/>
              <a:t>of Communicative Approach </a:t>
            </a:r>
            <a:br>
              <a:rPr lang="en-IN" sz="2700" b="1" dirty="0"/>
            </a:br>
            <a:endParaRPr lang="en-IN" sz="27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Communicative approach emphasis </a:t>
            </a:r>
            <a:r>
              <a:rPr lang="en-US" sz="1800" dirty="0" smtClean="0"/>
              <a:t>on communication </a:t>
            </a:r>
            <a:r>
              <a:rPr lang="en-US" sz="1800" dirty="0"/>
              <a:t>of language because it plays</a:t>
            </a:r>
            <a:br>
              <a:rPr lang="en-US" sz="1800" dirty="0"/>
            </a:br>
            <a:r>
              <a:rPr lang="en-US" sz="1800" dirty="0"/>
              <a:t>important part in development of sociality </a:t>
            </a:r>
            <a:r>
              <a:rPr lang="en-US" sz="1800" dirty="0" smtClean="0"/>
              <a:t>of human creature</a:t>
            </a:r>
            <a:r>
              <a:rPr lang="en-US" sz="1800" dirty="0"/>
              <a:t>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Through communicative approach, the </a:t>
            </a:r>
            <a:r>
              <a:rPr lang="en-US" sz="1800" dirty="0" smtClean="0"/>
              <a:t>leaner learn </a:t>
            </a:r>
            <a:r>
              <a:rPr lang="en-US" sz="1800" dirty="0"/>
              <a:t>target language as he learns </a:t>
            </a:r>
            <a:r>
              <a:rPr lang="en-US" sz="1800" dirty="0" smtClean="0"/>
              <a:t>mother tongue</a:t>
            </a:r>
            <a:r>
              <a:rPr lang="en-US" sz="1800" dirty="0"/>
              <a:t>. It means that the atmosphere of </a:t>
            </a:r>
            <a:r>
              <a:rPr lang="en-US" sz="1800" dirty="0" smtClean="0"/>
              <a:t>English language </a:t>
            </a:r>
            <a:r>
              <a:rPr lang="en-US" sz="1800" dirty="0"/>
              <a:t>is created so that student could </a:t>
            </a:r>
            <a:r>
              <a:rPr lang="en-US" sz="1800" dirty="0" smtClean="0"/>
              <a:t>learn English directly.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Communicative approach enable student </a:t>
            </a:r>
            <a:r>
              <a:rPr lang="en-US" sz="1800" dirty="0" smtClean="0"/>
              <a:t>to learn </a:t>
            </a:r>
            <a:r>
              <a:rPr lang="en-US" sz="1800" dirty="0"/>
              <a:t>language naturally because the</a:t>
            </a:r>
            <a:br>
              <a:rPr lang="en-US" sz="1800" dirty="0"/>
            </a:br>
            <a:r>
              <a:rPr lang="en-US" sz="1800" dirty="0"/>
              <a:t>environment of target language learning </a:t>
            </a:r>
            <a:r>
              <a:rPr lang="en-US" sz="1800" dirty="0" smtClean="0"/>
              <a:t>is created</a:t>
            </a:r>
            <a:r>
              <a:rPr lang="en-US" sz="1800" dirty="0"/>
              <a:t>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In communicative approach every where, </a:t>
            </a:r>
            <a:r>
              <a:rPr lang="en-US" sz="1800" dirty="0" smtClean="0"/>
              <a:t>in schools</a:t>
            </a:r>
            <a:r>
              <a:rPr lang="en-US" sz="1800" dirty="0"/>
              <a:t>, classroom, on stages, and seminars, </a:t>
            </a:r>
            <a:r>
              <a:rPr lang="en-US" sz="1800" dirty="0" smtClean="0"/>
              <a:t>we  can </a:t>
            </a:r>
            <a:r>
              <a:rPr lang="en-US" sz="1800" dirty="0"/>
              <a:t>say that the learner are taught as a </a:t>
            </a:r>
            <a:r>
              <a:rPr lang="en-US" sz="1800" dirty="0" smtClean="0"/>
              <a:t>native person </a:t>
            </a:r>
            <a:r>
              <a:rPr lang="en-US" sz="1800" dirty="0"/>
              <a:t>learn his language.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In communicative approach, the emphasis </a:t>
            </a:r>
            <a:r>
              <a:rPr lang="en-US" sz="1800" dirty="0" smtClean="0"/>
              <a:t>on active </a:t>
            </a:r>
            <a:r>
              <a:rPr lang="en-US" sz="1800" dirty="0"/>
              <a:t>mode of learning is given. Thus it </a:t>
            </a:r>
            <a:r>
              <a:rPr lang="en-US" sz="1800" dirty="0" smtClean="0"/>
              <a:t>makes students </a:t>
            </a:r>
            <a:r>
              <a:rPr lang="en-US" sz="1800" dirty="0"/>
              <a:t>active in their activities including </a:t>
            </a:r>
            <a:r>
              <a:rPr lang="en-US" sz="1800" dirty="0" smtClean="0"/>
              <a:t>pair work </a:t>
            </a:r>
            <a:r>
              <a:rPr lang="en-US" sz="1800" dirty="0"/>
              <a:t>and group work.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Speaking and listing aspect of language are </a:t>
            </a:r>
            <a:r>
              <a:rPr lang="en-US" sz="1800" dirty="0" smtClean="0"/>
              <a:t>too important </a:t>
            </a:r>
            <a:r>
              <a:rPr lang="en-US" sz="1800" dirty="0"/>
              <a:t>for oral communication so </a:t>
            </a:r>
            <a:r>
              <a:rPr lang="en-US" sz="1800" dirty="0" smtClean="0"/>
              <a:t>oral expression </a:t>
            </a:r>
            <a:r>
              <a:rPr lang="en-US" sz="1800" dirty="0"/>
              <a:t>is more emphasized. </a:t>
            </a:r>
            <a:r>
              <a:rPr lang="en-US" sz="1800" dirty="0" smtClean="0"/>
              <a:t> </a:t>
            </a:r>
            <a:r>
              <a:rPr lang="en-US" sz="1800" dirty="0"/>
              <a:t/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86536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Conti….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Tx/>
              <a:buFont typeface="Wingdings" pitchFamily="2" charset="2"/>
              <a:buChar char="Ø"/>
            </a:pP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 smtClean="0"/>
              <a:t>In </a:t>
            </a:r>
            <a:r>
              <a:rPr lang="en-US" sz="1800" dirty="0"/>
              <a:t>this approach the visual aids are permitted</a:t>
            </a:r>
            <a:r>
              <a:rPr lang="en-US" sz="1800" dirty="0" smtClean="0"/>
              <a:t>.  These </a:t>
            </a:r>
            <a:r>
              <a:rPr lang="en-US" sz="1800" dirty="0"/>
              <a:t>aids help to provoke practical</a:t>
            </a:r>
            <a:br>
              <a:rPr lang="en-US" sz="1800" dirty="0"/>
            </a:br>
            <a:r>
              <a:rPr lang="en-US" sz="1800" dirty="0"/>
              <a:t>communication. They help to motivate </a:t>
            </a:r>
            <a:r>
              <a:rPr lang="en-US" sz="1800" dirty="0" smtClean="0"/>
              <a:t>and focus </a:t>
            </a:r>
            <a:r>
              <a:rPr lang="en-US" sz="1800" dirty="0"/>
              <a:t>pupils' attention.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The language is never static: it is dynamic. </a:t>
            </a:r>
            <a:r>
              <a:rPr lang="en-US" sz="1800" dirty="0" smtClean="0"/>
              <a:t>This approach helps to learner to use language naturally and according to accepted form and usage.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The active use of lexical items help learner </a:t>
            </a:r>
            <a:r>
              <a:rPr lang="en-US" sz="1800" dirty="0" smtClean="0"/>
              <a:t>to  develop </a:t>
            </a:r>
            <a:r>
              <a:rPr lang="en-US" sz="1800" dirty="0"/>
              <a:t>vocabulary. </a:t>
            </a:r>
            <a:r>
              <a:rPr lang="en-US" sz="1800" dirty="0" smtClean="0"/>
              <a:t> </a:t>
            </a:r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They need active </a:t>
            </a:r>
            <a:r>
              <a:rPr lang="en-US" sz="1800" dirty="0" smtClean="0"/>
              <a:t>command  of using words in meaningful message, so in this approach the lexical items are taught in context. </a:t>
            </a:r>
            <a:br>
              <a:rPr lang="en-US" sz="1800" dirty="0" smtClean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15598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 smtClean="0"/>
              <a:t>Merit of CLT</a:t>
            </a:r>
            <a:endParaRPr lang="en-IN"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ClrTx/>
              <a:buFont typeface="Wingdings" pitchFamily="2" charset="2"/>
              <a:buChar char="Ø"/>
            </a:pPr>
            <a:endParaRPr lang="en-US" sz="1800" dirty="0" smtClean="0"/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 smtClean="0"/>
              <a:t>Main </a:t>
            </a:r>
            <a:r>
              <a:rPr lang="en-US" sz="1800" dirty="0"/>
              <a:t>function of communicative approach </a:t>
            </a:r>
            <a:r>
              <a:rPr lang="en-US" sz="1800" dirty="0" smtClean="0"/>
              <a:t>is to </a:t>
            </a:r>
            <a:r>
              <a:rPr lang="en-US" sz="1800" dirty="0"/>
              <a:t>develop communication </a:t>
            </a:r>
            <a:r>
              <a:rPr lang="en-US" sz="1800" dirty="0" smtClean="0"/>
              <a:t>competences</a:t>
            </a:r>
            <a:r>
              <a:rPr lang="en-US" sz="1800" dirty="0"/>
              <a:t>, so </a:t>
            </a:r>
            <a:r>
              <a:rPr lang="en-US" sz="1800" dirty="0" smtClean="0"/>
              <a:t>they are </a:t>
            </a:r>
            <a:r>
              <a:rPr lang="en-US" sz="1800" dirty="0"/>
              <a:t>provided with optimum opportunities to use</a:t>
            </a:r>
            <a:br>
              <a:rPr lang="en-US" sz="1800" dirty="0"/>
            </a:br>
            <a:r>
              <a:rPr lang="en-US" sz="1800" dirty="0"/>
              <a:t>the language. </a:t>
            </a:r>
            <a:endParaRPr lang="en-US" sz="1800" dirty="0" smtClean="0"/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/>
              <a:t>This approach create </a:t>
            </a:r>
            <a:r>
              <a:rPr lang="en-US" sz="1800" dirty="0" smtClean="0"/>
              <a:t>communicative environment </a:t>
            </a:r>
            <a:r>
              <a:rPr lang="en-US" sz="1800" dirty="0"/>
              <a:t>among learners, teachers, and</a:t>
            </a:r>
            <a:br>
              <a:rPr lang="en-US" sz="1800" dirty="0"/>
            </a:br>
            <a:r>
              <a:rPr lang="en-US" sz="1800" dirty="0"/>
              <a:t>society. They are motivated to form the </a:t>
            </a:r>
            <a:r>
              <a:rPr lang="en-US" sz="1800" dirty="0" smtClean="0"/>
              <a:t>bridge of </a:t>
            </a:r>
            <a:r>
              <a:rPr lang="en-US" sz="1800" dirty="0"/>
              <a:t>communication and to make use of real </a:t>
            </a:r>
            <a:r>
              <a:rPr lang="en-US" sz="1800" dirty="0" smtClean="0"/>
              <a:t>life language</a:t>
            </a:r>
            <a:r>
              <a:rPr lang="en-US" sz="1800" dirty="0"/>
              <a:t>, in other words language in use. </a:t>
            </a:r>
            <a:endParaRPr lang="en-US" sz="1800" dirty="0" smtClean="0"/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/>
              <a:t>This approach is child or learner </a:t>
            </a:r>
            <a:r>
              <a:rPr lang="en-US" sz="1800" dirty="0" smtClean="0"/>
              <a:t>centered. </a:t>
            </a:r>
            <a:r>
              <a:rPr lang="en-US" sz="1800" dirty="0"/>
              <a:t>So </a:t>
            </a:r>
            <a:r>
              <a:rPr lang="en-US" sz="1800" dirty="0" smtClean="0"/>
              <a:t>it is </a:t>
            </a:r>
            <a:r>
              <a:rPr lang="en-US" sz="1800" dirty="0"/>
              <a:t>very scientific. All the teaching materials </a:t>
            </a:r>
            <a:r>
              <a:rPr lang="en-US" sz="1800" dirty="0" smtClean="0"/>
              <a:t>are prepared </a:t>
            </a:r>
            <a:r>
              <a:rPr lang="en-US" sz="1800" dirty="0"/>
              <a:t>according to mentality and interest </a:t>
            </a:r>
            <a:r>
              <a:rPr lang="en-US" sz="1800" dirty="0" smtClean="0"/>
              <a:t>of the </a:t>
            </a:r>
            <a:r>
              <a:rPr lang="en-US" sz="1800" dirty="0"/>
              <a:t>students. </a:t>
            </a:r>
            <a:endParaRPr lang="en-US" sz="1800" dirty="0" smtClean="0"/>
          </a:p>
          <a:p>
            <a:pPr algn="just">
              <a:buClrTx/>
              <a:buFont typeface="Wingdings" pitchFamily="2" charset="2"/>
              <a:buChar char="Ø"/>
            </a:pPr>
            <a:r>
              <a:rPr lang="en-US" sz="1800" dirty="0"/>
              <a:t>In this approach every leaner are active </a:t>
            </a:r>
            <a:r>
              <a:rPr lang="en-US" sz="1800" dirty="0" smtClean="0"/>
              <a:t>during teaching </a:t>
            </a:r>
            <a:r>
              <a:rPr lang="en-US" sz="1800" dirty="0"/>
              <a:t>because there are interaction </a:t>
            </a:r>
            <a:r>
              <a:rPr lang="en-US" sz="1800" dirty="0" smtClean="0"/>
              <a:t>among learner </a:t>
            </a:r>
            <a:r>
              <a:rPr lang="en-US" sz="1800" dirty="0"/>
              <a:t>and teacher. They communicate </a:t>
            </a:r>
            <a:r>
              <a:rPr lang="en-US" sz="1800" dirty="0" smtClean="0"/>
              <a:t>verbally and </a:t>
            </a:r>
            <a:r>
              <a:rPr lang="en-US" sz="1800" dirty="0"/>
              <a:t>non-verbally to each other, so every </a:t>
            </a:r>
            <a:r>
              <a:rPr lang="en-US" sz="1800" dirty="0" smtClean="0"/>
              <a:t>student  is </a:t>
            </a:r>
            <a:r>
              <a:rPr lang="en-US" sz="1800" dirty="0"/>
              <a:t>active. </a:t>
            </a:r>
            <a:endParaRPr lang="en-US" sz="1800" dirty="0" smtClean="0"/>
          </a:p>
          <a:p>
            <a:pPr>
              <a:buClrTx/>
              <a:buFont typeface="Wingdings" pitchFamily="2" charset="2"/>
              <a:buChar char="Ø"/>
            </a:pPr>
            <a:r>
              <a:rPr lang="en-US" sz="1800" dirty="0"/>
              <a:t>This approach provides sufficient </a:t>
            </a:r>
            <a:r>
              <a:rPr lang="en-US" sz="1800" dirty="0" smtClean="0"/>
              <a:t>opportunity to </a:t>
            </a:r>
            <a:r>
              <a:rPr lang="en-US" sz="1800" dirty="0"/>
              <a:t>students for practice of communication </a:t>
            </a:r>
            <a:r>
              <a:rPr lang="en-US" sz="1800" dirty="0" smtClean="0"/>
              <a:t>with other </a:t>
            </a:r>
            <a:r>
              <a:rPr lang="en-US" sz="1800" dirty="0"/>
              <a:t>students or people. </a:t>
            </a:r>
            <a:endParaRPr lang="en-US" sz="1800" dirty="0" smtClean="0"/>
          </a:p>
          <a:p>
            <a:pPr marL="0" indent="0">
              <a:buClrTx/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641828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758</TotalTime>
  <Words>572</Words>
  <Application>Microsoft Office PowerPoint</Application>
  <PresentationFormat>On-screen Show (4:3)</PresentationFormat>
  <Paragraphs>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Bookman Old Style</vt:lpstr>
      <vt:lpstr>Gill Sans MT</vt:lpstr>
      <vt:lpstr>Wingdings</vt:lpstr>
      <vt:lpstr>Wingdings 3</vt:lpstr>
      <vt:lpstr>Origin</vt:lpstr>
      <vt:lpstr>Communicative Language Teaching (CLT) Course Code: LAF183</vt:lpstr>
      <vt:lpstr>Communicative Language Teaching (CLT)</vt:lpstr>
      <vt:lpstr>CLT Approach</vt:lpstr>
      <vt:lpstr>CLT Objectives</vt:lpstr>
      <vt:lpstr>    Communicative Approach or CLT  </vt:lpstr>
      <vt:lpstr>Conti…</vt:lpstr>
      <vt:lpstr>Conti….</vt:lpstr>
      <vt:lpstr>Communicative Competences</vt:lpstr>
      <vt:lpstr>Conti…</vt:lpstr>
      <vt:lpstr> The Aim of Communicative Language  </vt:lpstr>
      <vt:lpstr> Characteristics of Communicative Approach  </vt:lpstr>
      <vt:lpstr>Conti….</vt:lpstr>
      <vt:lpstr>Merit of CLT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Communicative Language Teaching (CLT) Course Code: LAF183</dc:title>
  <dc:creator>Sandeep K Sharma</dc:creator>
  <cp:lastModifiedBy>DIT</cp:lastModifiedBy>
  <cp:revision>27</cp:revision>
  <dcterms:created xsi:type="dcterms:W3CDTF">2006-08-16T00:00:00Z</dcterms:created>
  <dcterms:modified xsi:type="dcterms:W3CDTF">2024-01-30T09:28:17Z</dcterms:modified>
</cp:coreProperties>
</file>